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60" r:id="rId4"/>
    <p:sldId id="261" r:id="rId5"/>
    <p:sldId id="262" r:id="rId6"/>
    <p:sldId id="263" r:id="rId7"/>
    <p:sldId id="264" r:id="rId8"/>
    <p:sldId id="265" r:id="rId9"/>
    <p:sldId id="266" r:id="rId1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12E104-F855-40F3-9827-FA131AB72640}">
          <p14:sldIdLst>
            <p14:sldId id="256"/>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660EB8-88D3-F694-85AB-2E43CEC9E52C}" v="2051" dt="2026-03-27T15:54:05.9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3/27/2026</a:t>
            </a:fld>
            <a:endParaRPr lang="en-US" dirty="0"/>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4082823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3/27/2026</a:t>
            </a:fld>
            <a:endParaRPr lang="en-US" dirty="0"/>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4272714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3/27/2026</a:t>
            </a:fld>
            <a:endParaRPr lang="en-US" dirty="0"/>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919347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3/27/2026</a:t>
            </a:fld>
            <a:endParaRPr lang="en-US" dirty="0"/>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484332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3/27/2026</a:t>
            </a:fld>
            <a:endParaRPr lang="en-US" dirty="0"/>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067608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dirty="0"/>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3/27/2026</a:t>
            </a:fld>
            <a:endParaRPr lang="en-US" dirty="0"/>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959646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3/27/2026</a:t>
            </a:fld>
            <a:endParaRPr lang="en-US" dirty="0"/>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398050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3/27/2026</a:t>
            </a:fld>
            <a:endParaRPr lang="en-US" dirty="0"/>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960787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5105400" y="838200"/>
            <a:ext cx="6249988" cy="51815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FigureOut">
              <a:rPr lang="en-US" dirty="0"/>
              <a:t>3/27/2026</a:t>
            </a:fld>
            <a:endParaRPr lang="en-US" dirty="0"/>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635062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dirty="0"/>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3/27/2026</a:t>
            </a:fld>
            <a:endParaRPr lang="en-US" dirty="0"/>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4174700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3/27/2026</a:t>
            </a:fld>
            <a:endParaRPr lang="en-US" dirty="0"/>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4289029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FigureOut">
              <a:rPr lang="en-US" dirty="0"/>
              <a:t>3/27/2026</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dirty="0"/>
              <a:t>‹#›</a:t>
            </a:fld>
            <a:endParaRPr lang="en-US" dirty="0"/>
          </a:p>
        </p:txBody>
      </p:sp>
    </p:spTree>
    <p:extLst>
      <p:ext uri="{BB962C8B-B14F-4D97-AF65-F5344CB8AC3E}">
        <p14:creationId xmlns:p14="http://schemas.microsoft.com/office/powerpoint/2010/main" val="63213563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528">
          <p15:clr>
            <a:srgbClr val="F26B43"/>
          </p15:clr>
        </p15:guide>
        <p15:guide id="19" orient="horz" pos="2160">
          <p15:clr>
            <a:srgbClr val="F26B43"/>
          </p15:clr>
        </p15:guide>
        <p15:guide id="20"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u="sng" dirty="0"/>
              <a:t>Game Programming </a:t>
            </a:r>
            <a:r>
              <a:rPr lang="en-GB" u="sng"/>
              <a:t>Fundamentals</a:t>
            </a:r>
            <a:endParaRPr lang="en-GB" u="sng" dirty="0"/>
          </a:p>
        </p:txBody>
      </p:sp>
      <p:sp>
        <p:nvSpPr>
          <p:cNvPr id="3" name="Subtitle 2"/>
          <p:cNvSpPr>
            <a:spLocks noGrp="1"/>
          </p:cNvSpPr>
          <p:nvPr>
            <p:ph type="subTitle" idx="1"/>
          </p:nvPr>
        </p:nvSpPr>
        <p:spPr>
          <a:xfrm>
            <a:off x="3543" y="6417434"/>
            <a:ext cx="8132227" cy="1350484"/>
          </a:xfrm>
        </p:spPr>
        <p:txBody>
          <a:bodyPr vert="horz" lIns="91440" tIns="45720" rIns="91440" bIns="45720" rtlCol="0" anchor="t">
            <a:normAutofit/>
          </a:bodyPr>
          <a:lstStyle/>
          <a:p>
            <a:r>
              <a:rPr lang="en-GB" dirty="0"/>
              <a:t>F5064964 | Hayden Thorpe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8AFFC-E7A7-0235-7EA6-E15DB0729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E44D7-26A6-0746-3914-FDDB9D451010}"/>
              </a:ext>
            </a:extLst>
          </p:cNvPr>
          <p:cNvSpPr>
            <a:spLocks noGrp="1"/>
          </p:cNvSpPr>
          <p:nvPr>
            <p:ph type="title"/>
          </p:nvPr>
        </p:nvSpPr>
        <p:spPr>
          <a:xfrm>
            <a:off x="4482" y="-2428"/>
            <a:ext cx="10515600" cy="706438"/>
          </a:xfrm>
        </p:spPr>
        <p:txBody>
          <a:bodyPr/>
          <a:lstStyle/>
          <a:p>
            <a:r>
              <a:rPr lang="en-GB" u="sng"/>
              <a:t>Week 1 – Types and Variables</a:t>
            </a:r>
            <a:endParaRPr lang="en-US" u="sng"/>
          </a:p>
        </p:txBody>
      </p:sp>
      <p:sp>
        <p:nvSpPr>
          <p:cNvPr id="3" name="TextBox 2">
            <a:extLst>
              <a:ext uri="{FF2B5EF4-FFF2-40B4-BE49-F238E27FC236}">
                <a16:creationId xmlns:a16="http://schemas.microsoft.com/office/drawing/2014/main" id="{E078CD6F-5E9B-C6B8-1459-72438AF79C14}"/>
              </a:ext>
            </a:extLst>
          </p:cNvPr>
          <p:cNvSpPr txBox="1"/>
          <p:nvPr/>
        </p:nvSpPr>
        <p:spPr>
          <a:xfrm>
            <a:off x="9475693" y="-1"/>
            <a:ext cx="2716305" cy="67710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Types &amp; Variables</a:t>
            </a:r>
          </a:p>
          <a:p>
            <a:r>
              <a:rPr lang="en-GB" sz="1600"/>
              <a:t>Through week one the </a:t>
            </a:r>
            <a:r>
              <a:rPr lang="en-GB" sz="1600" dirty="0"/>
              <a:t>idea of types and variables were explored, we learnt about int, floats, num &amp; other variables and their applications.</a:t>
            </a:r>
          </a:p>
          <a:p>
            <a:endParaRPr lang="en-GB" sz="1600" dirty="0"/>
          </a:p>
          <a:p>
            <a:r>
              <a:rPr lang="en-GB" sz="1600" dirty="0"/>
              <a:t>We also learnt how to utilise &lt;iostream&gt; and outputting to console, aswell as how to state a namespace to avoid putting "std::" Infront of </a:t>
            </a:r>
            <a:r>
              <a:rPr lang="en-GB" sz="1600"/>
              <a:t>every cout &amp; cin</a:t>
            </a:r>
          </a:p>
          <a:p>
            <a:endParaRPr lang="en-GB" sz="1600" dirty="0"/>
          </a:p>
          <a:p>
            <a:r>
              <a:rPr lang="en-GB" sz="1600" dirty="0"/>
              <a:t>We also learnt how data is </a:t>
            </a:r>
            <a:r>
              <a:rPr lang="en-GB" sz="1600"/>
              <a:t>stored within RAM, and </a:t>
            </a:r>
            <a:r>
              <a:rPr lang="en-GB" sz="1600" dirty="0"/>
              <a:t>how different types of variables take up different </a:t>
            </a:r>
            <a:r>
              <a:rPr lang="en-GB" sz="1600"/>
              <a:t>amounts of RAM</a:t>
            </a:r>
          </a:p>
          <a:p>
            <a:endParaRPr lang="en-GB" sz="1600" dirty="0"/>
          </a:p>
          <a:p>
            <a:r>
              <a:rPr lang="en-GB" sz="1600" dirty="0"/>
              <a:t>Doing mathematical sums including +, -, /, * and also using () to state priority </a:t>
            </a:r>
            <a:r>
              <a:rPr lang="en-GB" sz="1600"/>
              <a:t>were also taught and learnt during this week</a:t>
            </a:r>
          </a:p>
        </p:txBody>
      </p:sp>
      <p:pic>
        <p:nvPicPr>
          <p:cNvPr id="5" name="Picture 4" descr="A screenshot of a computer&#10;&#10;AI-generated content may be incorrect.">
            <a:extLst>
              <a:ext uri="{FF2B5EF4-FFF2-40B4-BE49-F238E27FC236}">
                <a16:creationId xmlns:a16="http://schemas.microsoft.com/office/drawing/2014/main" id="{1C60B027-E273-2AC2-4240-739765822813}"/>
              </a:ext>
            </a:extLst>
          </p:cNvPr>
          <p:cNvPicPr>
            <a:picLocks noChangeAspect="1"/>
          </p:cNvPicPr>
          <p:nvPr/>
        </p:nvPicPr>
        <p:blipFill>
          <a:blip r:embed="rId2"/>
          <a:srcRect r="45266" b="502"/>
          <a:stretch>
            <a:fillRect/>
          </a:stretch>
        </p:blipFill>
        <p:spPr>
          <a:xfrm>
            <a:off x="8964" y="1576359"/>
            <a:ext cx="4797487" cy="1722647"/>
          </a:xfrm>
          <a:prstGeom prst="rect">
            <a:avLst/>
          </a:prstGeom>
        </p:spPr>
      </p:pic>
      <p:sp>
        <p:nvSpPr>
          <p:cNvPr id="7" name="TextBox 6">
            <a:extLst>
              <a:ext uri="{FF2B5EF4-FFF2-40B4-BE49-F238E27FC236}">
                <a16:creationId xmlns:a16="http://schemas.microsoft.com/office/drawing/2014/main" id="{15F7938D-9497-B1D5-0D49-1449DDEEB224}"/>
              </a:ext>
            </a:extLst>
          </p:cNvPr>
          <p:cNvSpPr txBox="1"/>
          <p:nvPr/>
        </p:nvSpPr>
        <p:spPr>
          <a:xfrm>
            <a:off x="-1" y="3290047"/>
            <a:ext cx="5199529"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 Here is some code that takes a  Fahrenheit input and gives out a Celsius output</a:t>
            </a:r>
            <a:endParaRPr lang="en-US" sz="1600" dirty="0"/>
          </a:p>
          <a:p>
            <a:endParaRPr lang="en-GB" sz="1600" dirty="0"/>
          </a:p>
          <a:p>
            <a:r>
              <a:rPr lang="en-GB" sz="1600" dirty="0"/>
              <a:t>It creates an intager to store the number given by the user, prints the text </a:t>
            </a:r>
            <a:r>
              <a:rPr lang="en-GB" sz="1600" dirty="0">
                <a:solidFill>
                  <a:srgbClr val="FFFFFF"/>
                </a:solidFill>
              </a:rPr>
              <a:t>"Input ?F"</a:t>
            </a:r>
            <a:r>
              <a:rPr lang="en-GB" sz="1600" dirty="0"/>
              <a:t> using the "cout" function granted to us by iostream, then recieves input from the user in the console using "cin", we than use another value to use the "celci" int variable, minus 32, times 5 then devided by nine. The brackets are used as a part of the mathematical equation to ensure the correct order of operations is followed, the result of this Is then outputted to the user using </a:t>
            </a:r>
            <a:r>
              <a:rPr lang="en-GB" sz="1600" dirty="0" err="1"/>
              <a:t>cout</a:t>
            </a:r>
            <a:r>
              <a:rPr lang="en-GB" sz="1600" dirty="0"/>
              <a:t>.</a:t>
            </a:r>
          </a:p>
        </p:txBody>
      </p:sp>
      <p:sp>
        <p:nvSpPr>
          <p:cNvPr id="8" name="TextBox 7">
            <a:extLst>
              <a:ext uri="{FF2B5EF4-FFF2-40B4-BE49-F238E27FC236}">
                <a16:creationId xmlns:a16="http://schemas.microsoft.com/office/drawing/2014/main" id="{97D035C2-3783-CA84-8007-67A1A9B1F287}"/>
              </a:ext>
            </a:extLst>
          </p:cNvPr>
          <p:cNvSpPr txBox="1"/>
          <p:nvPr/>
        </p:nvSpPr>
        <p:spPr>
          <a:xfrm>
            <a:off x="8964" y="1272987"/>
            <a:ext cx="39265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Example of learning!</a:t>
            </a:r>
          </a:p>
        </p:txBody>
      </p:sp>
    </p:spTree>
    <p:extLst>
      <p:ext uri="{BB962C8B-B14F-4D97-AF65-F5344CB8AC3E}">
        <p14:creationId xmlns:p14="http://schemas.microsoft.com/office/powerpoint/2010/main" val="369366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F5B25-BCFD-E722-57E6-6636C6141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9197A-B039-702F-4D14-08856A3C1CC6}"/>
              </a:ext>
            </a:extLst>
          </p:cNvPr>
          <p:cNvSpPr>
            <a:spLocks noGrp="1"/>
          </p:cNvSpPr>
          <p:nvPr>
            <p:ph type="title"/>
          </p:nvPr>
        </p:nvSpPr>
        <p:spPr>
          <a:xfrm>
            <a:off x="4482" y="-2428"/>
            <a:ext cx="10515600" cy="706438"/>
          </a:xfrm>
        </p:spPr>
        <p:txBody>
          <a:bodyPr>
            <a:normAutofit fontScale="90000"/>
          </a:bodyPr>
          <a:lstStyle/>
          <a:p>
            <a:r>
              <a:rPr lang="en-GB" u="sng" dirty="0"/>
              <a:t>Week 2 – Boolean Logic &amp; Comparisons</a:t>
            </a:r>
            <a:endParaRPr lang="en-US" u="sng" dirty="0"/>
          </a:p>
        </p:txBody>
      </p:sp>
      <p:sp>
        <p:nvSpPr>
          <p:cNvPr id="3" name="TextBox 2">
            <a:extLst>
              <a:ext uri="{FF2B5EF4-FFF2-40B4-BE49-F238E27FC236}">
                <a16:creationId xmlns:a16="http://schemas.microsoft.com/office/drawing/2014/main" id="{DA0C7A73-5F8F-2D53-59CD-067AD6BE7C60}"/>
              </a:ext>
            </a:extLst>
          </p:cNvPr>
          <p:cNvSpPr txBox="1"/>
          <p:nvPr/>
        </p:nvSpPr>
        <p:spPr>
          <a:xfrm>
            <a:off x="9475693" y="704126"/>
            <a:ext cx="271630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u="sng" dirty="0"/>
              <a:t>Boolean Logic</a:t>
            </a:r>
          </a:p>
          <a:p>
            <a:r>
              <a:rPr lang="en-GB" sz="1600" dirty="0"/>
              <a:t>This week we learnt about Boolean logic and how it's used within C++, for example, when using an if statement it will check if an inputted statement (e.g. 1+1=2) is true or not, this is Boolean logic.</a:t>
            </a:r>
          </a:p>
          <a:p>
            <a:endParaRPr lang="en-GB" sz="1600" u="sng" dirty="0"/>
          </a:p>
          <a:p>
            <a:r>
              <a:rPr lang="en-GB" sz="1600" u="sng" dirty="0"/>
              <a:t>Comparisons (if)</a:t>
            </a:r>
          </a:p>
          <a:p>
            <a:r>
              <a:rPr lang="en-GB" sz="1600" dirty="0"/>
              <a:t>Comparisons (mainly if statements) were taught this week as they are they are fundamental to  programming, 90% of this week's project was just if statements, as it allows for nonlinear programming, allowing code to check for changes!</a:t>
            </a:r>
          </a:p>
        </p:txBody>
      </p:sp>
      <p:sp>
        <p:nvSpPr>
          <p:cNvPr id="8" name="TextBox 7">
            <a:extLst>
              <a:ext uri="{FF2B5EF4-FFF2-40B4-BE49-F238E27FC236}">
                <a16:creationId xmlns:a16="http://schemas.microsoft.com/office/drawing/2014/main" id="{8871495D-BE6E-E9DF-FCAF-18FBD50960E9}"/>
              </a:ext>
            </a:extLst>
          </p:cNvPr>
          <p:cNvSpPr txBox="1"/>
          <p:nvPr/>
        </p:nvSpPr>
        <p:spPr>
          <a:xfrm>
            <a:off x="8964" y="1272987"/>
            <a:ext cx="39265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Example of learning!</a:t>
            </a:r>
          </a:p>
        </p:txBody>
      </p:sp>
      <p:pic>
        <p:nvPicPr>
          <p:cNvPr id="5" name="Picture 4" descr="A screen shot of a computer program&#10;&#10;AI-generated content may be incorrect.">
            <a:extLst>
              <a:ext uri="{FF2B5EF4-FFF2-40B4-BE49-F238E27FC236}">
                <a16:creationId xmlns:a16="http://schemas.microsoft.com/office/drawing/2014/main" id="{27E296E1-713E-061C-745C-38689005DAC3}"/>
              </a:ext>
            </a:extLst>
          </p:cNvPr>
          <p:cNvPicPr>
            <a:picLocks noChangeAspect="1"/>
          </p:cNvPicPr>
          <p:nvPr/>
        </p:nvPicPr>
        <p:blipFill>
          <a:blip r:embed="rId2"/>
          <a:stretch>
            <a:fillRect/>
          </a:stretch>
        </p:blipFill>
        <p:spPr>
          <a:xfrm>
            <a:off x="4280" y="1602671"/>
            <a:ext cx="5248276" cy="3652657"/>
          </a:xfrm>
          <a:prstGeom prst="rect">
            <a:avLst/>
          </a:prstGeom>
        </p:spPr>
      </p:pic>
      <p:sp>
        <p:nvSpPr>
          <p:cNvPr id="6" name="TextBox 5">
            <a:extLst>
              <a:ext uri="{FF2B5EF4-FFF2-40B4-BE49-F238E27FC236}">
                <a16:creationId xmlns:a16="http://schemas.microsoft.com/office/drawing/2014/main" id="{16CEF22E-16C4-79BB-5A20-63F7ED53B53E}"/>
              </a:ext>
            </a:extLst>
          </p:cNvPr>
          <p:cNvSpPr txBox="1"/>
          <p:nvPr/>
        </p:nvSpPr>
        <p:spPr>
          <a:xfrm>
            <a:off x="52916" y="5302249"/>
            <a:ext cx="690033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piece of code states the current state of both the inner and outer door values, then asks if you would like press the inner or outer buttons. Pressing these buttons by entering the number and pressing enter will change the value of each door, when both doors are valued as open, the cat will escape!</a:t>
            </a:r>
          </a:p>
        </p:txBody>
      </p:sp>
    </p:spTree>
    <p:extLst>
      <p:ext uri="{BB962C8B-B14F-4D97-AF65-F5344CB8AC3E}">
        <p14:creationId xmlns:p14="http://schemas.microsoft.com/office/powerpoint/2010/main" val="283481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761D3-43F9-5994-51BD-AE33B6A44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F8CC1-A1F4-30CE-FC75-FC2A3F8E3F2A}"/>
              </a:ext>
            </a:extLst>
          </p:cNvPr>
          <p:cNvSpPr>
            <a:spLocks noGrp="1"/>
          </p:cNvSpPr>
          <p:nvPr>
            <p:ph type="title"/>
          </p:nvPr>
        </p:nvSpPr>
        <p:spPr>
          <a:xfrm>
            <a:off x="4482" y="-2428"/>
            <a:ext cx="10515600" cy="706438"/>
          </a:xfrm>
        </p:spPr>
        <p:txBody>
          <a:bodyPr>
            <a:normAutofit/>
          </a:bodyPr>
          <a:lstStyle/>
          <a:p>
            <a:r>
              <a:rPr lang="en-GB" u="sng" dirty="0"/>
              <a:t>Week 3 – Loops &amp; Arrays</a:t>
            </a:r>
            <a:endParaRPr lang="en-US" u="sng" dirty="0"/>
          </a:p>
        </p:txBody>
      </p:sp>
      <p:sp>
        <p:nvSpPr>
          <p:cNvPr id="3" name="TextBox 2">
            <a:extLst>
              <a:ext uri="{FF2B5EF4-FFF2-40B4-BE49-F238E27FC236}">
                <a16:creationId xmlns:a16="http://schemas.microsoft.com/office/drawing/2014/main" id="{1C9F5ACB-015A-7210-E8E0-08CBD59F06BE}"/>
              </a:ext>
            </a:extLst>
          </p:cNvPr>
          <p:cNvSpPr txBox="1"/>
          <p:nvPr/>
        </p:nvSpPr>
        <p:spPr>
          <a:xfrm>
            <a:off x="9475693" y="704126"/>
            <a:ext cx="271630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u="sng" dirty="0"/>
              <a:t>Loops &amp; Loop Types</a:t>
            </a:r>
          </a:p>
          <a:p>
            <a:r>
              <a:rPr lang="en-GB" sz="1600" dirty="0"/>
              <a:t>This week we studied loops and loop types, such as for loops, while loops &amp; do.. While loops, these are all used in different use cases such as a do.. While loop being used if the "while" part is not defined before the loop</a:t>
            </a:r>
          </a:p>
          <a:p>
            <a:endParaRPr lang="en-GB" sz="1600" u="sng" dirty="0"/>
          </a:p>
          <a:p>
            <a:r>
              <a:rPr lang="en-GB" sz="1600" u="sng" dirty="0"/>
              <a:t>Arrays</a:t>
            </a:r>
          </a:p>
          <a:p>
            <a:r>
              <a:rPr lang="en-GB" sz="1600" dirty="0"/>
              <a:t>We also learnt about arrays, simple ways of storing multiple values within one variable, within C++ you must predefine the amount of storage an array can hold before applying unlike other languages like C#</a:t>
            </a:r>
          </a:p>
        </p:txBody>
      </p:sp>
      <p:sp>
        <p:nvSpPr>
          <p:cNvPr id="8" name="TextBox 7">
            <a:extLst>
              <a:ext uri="{FF2B5EF4-FFF2-40B4-BE49-F238E27FC236}">
                <a16:creationId xmlns:a16="http://schemas.microsoft.com/office/drawing/2014/main" id="{A1D9F5A3-3123-06F9-AFA5-4B29A7E272FC}"/>
              </a:ext>
            </a:extLst>
          </p:cNvPr>
          <p:cNvSpPr txBox="1"/>
          <p:nvPr/>
        </p:nvSpPr>
        <p:spPr>
          <a:xfrm>
            <a:off x="8964" y="1272987"/>
            <a:ext cx="39265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Example of learning!</a:t>
            </a:r>
          </a:p>
        </p:txBody>
      </p:sp>
      <p:sp>
        <p:nvSpPr>
          <p:cNvPr id="6" name="TextBox 5">
            <a:extLst>
              <a:ext uri="{FF2B5EF4-FFF2-40B4-BE49-F238E27FC236}">
                <a16:creationId xmlns:a16="http://schemas.microsoft.com/office/drawing/2014/main" id="{5A4B7F35-AE4D-09CE-5FEC-0F8CA4E19842}"/>
              </a:ext>
            </a:extLst>
          </p:cNvPr>
          <p:cNvSpPr txBox="1"/>
          <p:nvPr/>
        </p:nvSpPr>
        <p:spPr>
          <a:xfrm>
            <a:off x="52916" y="5302249"/>
            <a:ext cx="690033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piece of code takes a defined array, starts a for loop with the same value as the array, checks to see if the arrays value is less than 1, if it is the code will do math "-(I – 12 + 1)", this sets the value to a negative and adds 1, finding the "Mirror" value and setting it into the array, before printing to the console.</a:t>
            </a:r>
          </a:p>
        </p:txBody>
      </p:sp>
      <p:pic>
        <p:nvPicPr>
          <p:cNvPr id="4" name="Picture 3" descr="A computer screen shot of a program code&#10;&#10;AI-generated content may be incorrect.">
            <a:extLst>
              <a:ext uri="{FF2B5EF4-FFF2-40B4-BE49-F238E27FC236}">
                <a16:creationId xmlns:a16="http://schemas.microsoft.com/office/drawing/2014/main" id="{9BA3E2AA-0201-3FCF-BD80-73E12CA1DC0A}"/>
              </a:ext>
            </a:extLst>
          </p:cNvPr>
          <p:cNvPicPr>
            <a:picLocks noChangeAspect="1"/>
          </p:cNvPicPr>
          <p:nvPr/>
        </p:nvPicPr>
        <p:blipFill>
          <a:blip r:embed="rId2"/>
          <a:stretch>
            <a:fillRect/>
          </a:stretch>
        </p:blipFill>
        <p:spPr>
          <a:xfrm>
            <a:off x="58054" y="1641856"/>
            <a:ext cx="5198600" cy="3651451"/>
          </a:xfrm>
          <a:prstGeom prst="rect">
            <a:avLst/>
          </a:prstGeom>
        </p:spPr>
      </p:pic>
    </p:spTree>
    <p:extLst>
      <p:ext uri="{BB962C8B-B14F-4D97-AF65-F5344CB8AC3E}">
        <p14:creationId xmlns:p14="http://schemas.microsoft.com/office/powerpoint/2010/main" val="3162466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7E6B-3E64-BEB3-5384-3839947C4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A465E-D05F-A32E-B7EC-AB6554126CA3}"/>
              </a:ext>
            </a:extLst>
          </p:cNvPr>
          <p:cNvSpPr>
            <a:spLocks noGrp="1"/>
          </p:cNvSpPr>
          <p:nvPr>
            <p:ph type="title"/>
          </p:nvPr>
        </p:nvSpPr>
        <p:spPr>
          <a:xfrm>
            <a:off x="4482" y="-2428"/>
            <a:ext cx="10515600" cy="706438"/>
          </a:xfrm>
        </p:spPr>
        <p:txBody>
          <a:bodyPr>
            <a:normAutofit/>
          </a:bodyPr>
          <a:lstStyle/>
          <a:p>
            <a:r>
              <a:rPr lang="en-GB" u="sng"/>
              <a:t>Week 4 – Loops &amp; Arrays</a:t>
            </a:r>
            <a:endParaRPr lang="en-US" u="sng"/>
          </a:p>
        </p:txBody>
      </p:sp>
      <p:sp>
        <p:nvSpPr>
          <p:cNvPr id="3" name="TextBox 2">
            <a:extLst>
              <a:ext uri="{FF2B5EF4-FFF2-40B4-BE49-F238E27FC236}">
                <a16:creationId xmlns:a16="http://schemas.microsoft.com/office/drawing/2014/main" id="{E3AC27FC-B93C-E93F-2538-DD3713530596}"/>
              </a:ext>
            </a:extLst>
          </p:cNvPr>
          <p:cNvSpPr txBox="1"/>
          <p:nvPr/>
        </p:nvSpPr>
        <p:spPr>
          <a:xfrm>
            <a:off x="9475693" y="704126"/>
            <a:ext cx="271630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u="sng" dirty="0"/>
              <a:t>Loops &amp; Loop Types</a:t>
            </a:r>
          </a:p>
          <a:p>
            <a:r>
              <a:rPr lang="en-GB" sz="1600" dirty="0"/>
              <a:t>This week we studied loops and loop types, such as for loops, while loops &amp; do.. While loops, these are all used in different use cases such as a do.. While loop being used if the "while" part is not defined before the loop</a:t>
            </a:r>
          </a:p>
          <a:p>
            <a:endParaRPr lang="en-GB" sz="1600" u="sng" dirty="0"/>
          </a:p>
          <a:p>
            <a:r>
              <a:rPr lang="en-GB" sz="1600" u="sng" dirty="0"/>
              <a:t>Arrays</a:t>
            </a:r>
          </a:p>
          <a:p>
            <a:r>
              <a:rPr lang="en-GB" sz="1600" dirty="0"/>
              <a:t>We also learnt about arrays, simple ways of storing multiple values within one variable, within C++ you must predefine the amount of storage an array can hold before applying unlike other languages like C#</a:t>
            </a:r>
          </a:p>
        </p:txBody>
      </p:sp>
      <p:sp>
        <p:nvSpPr>
          <p:cNvPr id="8" name="TextBox 7">
            <a:extLst>
              <a:ext uri="{FF2B5EF4-FFF2-40B4-BE49-F238E27FC236}">
                <a16:creationId xmlns:a16="http://schemas.microsoft.com/office/drawing/2014/main" id="{3755AA16-ED53-D28C-AACB-B43FACCBC57C}"/>
              </a:ext>
            </a:extLst>
          </p:cNvPr>
          <p:cNvSpPr txBox="1"/>
          <p:nvPr/>
        </p:nvSpPr>
        <p:spPr>
          <a:xfrm>
            <a:off x="8964" y="1272987"/>
            <a:ext cx="39265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Example of learning!</a:t>
            </a:r>
          </a:p>
        </p:txBody>
      </p:sp>
      <p:sp>
        <p:nvSpPr>
          <p:cNvPr id="6" name="TextBox 5">
            <a:extLst>
              <a:ext uri="{FF2B5EF4-FFF2-40B4-BE49-F238E27FC236}">
                <a16:creationId xmlns:a16="http://schemas.microsoft.com/office/drawing/2014/main" id="{A0C44C7D-7934-63B6-E20F-F7A6851DAC2A}"/>
              </a:ext>
            </a:extLst>
          </p:cNvPr>
          <p:cNvSpPr txBox="1"/>
          <p:nvPr/>
        </p:nvSpPr>
        <p:spPr>
          <a:xfrm>
            <a:off x="52916" y="5302249"/>
            <a:ext cx="690033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piece of code takes a defined array, starts a for loop with the same value as the array, checks to see if the arrays value is less than 1, if it is the code will do math "-(I – 12 + 1)", this sets the value to a negative and adds 1, finding the "Mirror" value and setting it into the array, before printing to the console.</a:t>
            </a:r>
          </a:p>
        </p:txBody>
      </p:sp>
      <p:pic>
        <p:nvPicPr>
          <p:cNvPr id="4" name="Picture 3" descr="A computer screen shot of a program code&#10;&#10;AI-generated content may be incorrect.">
            <a:extLst>
              <a:ext uri="{FF2B5EF4-FFF2-40B4-BE49-F238E27FC236}">
                <a16:creationId xmlns:a16="http://schemas.microsoft.com/office/drawing/2014/main" id="{BE8F0B70-9BE4-337E-C206-9767739FB967}"/>
              </a:ext>
            </a:extLst>
          </p:cNvPr>
          <p:cNvPicPr>
            <a:picLocks noChangeAspect="1"/>
          </p:cNvPicPr>
          <p:nvPr/>
        </p:nvPicPr>
        <p:blipFill>
          <a:blip r:embed="rId2"/>
          <a:stretch>
            <a:fillRect/>
          </a:stretch>
        </p:blipFill>
        <p:spPr>
          <a:xfrm>
            <a:off x="58054" y="1641856"/>
            <a:ext cx="5198600" cy="3651451"/>
          </a:xfrm>
          <a:prstGeom prst="rect">
            <a:avLst/>
          </a:prstGeom>
        </p:spPr>
      </p:pic>
    </p:spTree>
    <p:extLst>
      <p:ext uri="{BB962C8B-B14F-4D97-AF65-F5344CB8AC3E}">
        <p14:creationId xmlns:p14="http://schemas.microsoft.com/office/powerpoint/2010/main" val="1638065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043CD-8DBC-0522-3A91-B19110B2A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79AF9-F8F0-D21D-718D-A02B88B387C1}"/>
              </a:ext>
            </a:extLst>
          </p:cNvPr>
          <p:cNvSpPr>
            <a:spLocks noGrp="1"/>
          </p:cNvSpPr>
          <p:nvPr>
            <p:ph type="title"/>
          </p:nvPr>
        </p:nvSpPr>
        <p:spPr>
          <a:xfrm>
            <a:off x="4482" y="-2428"/>
            <a:ext cx="10515600" cy="706438"/>
          </a:xfrm>
        </p:spPr>
        <p:txBody>
          <a:bodyPr>
            <a:normAutofit/>
          </a:bodyPr>
          <a:lstStyle/>
          <a:p>
            <a:r>
              <a:rPr lang="en-GB" u="sng"/>
              <a:t>Week 6 – Functions &amp; Maze Game</a:t>
            </a:r>
            <a:endParaRPr lang="en-US" u="sng"/>
          </a:p>
        </p:txBody>
      </p:sp>
      <p:sp>
        <p:nvSpPr>
          <p:cNvPr id="3" name="TextBox 2">
            <a:extLst>
              <a:ext uri="{FF2B5EF4-FFF2-40B4-BE49-F238E27FC236}">
                <a16:creationId xmlns:a16="http://schemas.microsoft.com/office/drawing/2014/main" id="{C4509177-CCBB-3A44-3928-9504A077B52C}"/>
              </a:ext>
            </a:extLst>
          </p:cNvPr>
          <p:cNvSpPr txBox="1"/>
          <p:nvPr/>
        </p:nvSpPr>
        <p:spPr>
          <a:xfrm>
            <a:off x="9475693" y="704126"/>
            <a:ext cx="2716305"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u="sng"/>
              <a:t>Functions</a:t>
            </a:r>
            <a:endParaRPr lang="en-US"/>
          </a:p>
          <a:p>
            <a:r>
              <a:rPr lang="en-GB" sz="1600" dirty="0"/>
              <a:t>Functions are used in C++ to separate pieces of code, specifically code that needs to be ran more than once, they help with organisation and cut down the lines of code you </a:t>
            </a:r>
            <a:r>
              <a:rPr lang="en-GB" sz="1600"/>
              <a:t>must</a:t>
            </a:r>
            <a:r>
              <a:rPr lang="en-GB" sz="1600" dirty="0"/>
              <a:t> </a:t>
            </a:r>
            <a:r>
              <a:rPr lang="en-GB" sz="1600"/>
              <a:t>write.</a:t>
            </a:r>
            <a:endParaRPr lang="en-GB" sz="1600" dirty="0"/>
          </a:p>
          <a:p>
            <a:endParaRPr lang="en-GB" sz="1600" dirty="0"/>
          </a:p>
        </p:txBody>
      </p:sp>
      <p:sp>
        <p:nvSpPr>
          <p:cNvPr id="8" name="TextBox 7">
            <a:extLst>
              <a:ext uri="{FF2B5EF4-FFF2-40B4-BE49-F238E27FC236}">
                <a16:creationId xmlns:a16="http://schemas.microsoft.com/office/drawing/2014/main" id="{C8E34B13-2863-C77F-9C54-E09260F690B9}"/>
              </a:ext>
            </a:extLst>
          </p:cNvPr>
          <p:cNvSpPr txBox="1"/>
          <p:nvPr/>
        </p:nvSpPr>
        <p:spPr>
          <a:xfrm>
            <a:off x="23341" y="626006"/>
            <a:ext cx="39265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Example of learning!</a:t>
            </a:r>
          </a:p>
        </p:txBody>
      </p:sp>
      <p:pic>
        <p:nvPicPr>
          <p:cNvPr id="5" name="Picture 4" descr="A screen shot of a computer code&#10;&#10;AI-generated content may be incorrect.">
            <a:extLst>
              <a:ext uri="{FF2B5EF4-FFF2-40B4-BE49-F238E27FC236}">
                <a16:creationId xmlns:a16="http://schemas.microsoft.com/office/drawing/2014/main" id="{70156539-C9B0-2F14-2FBC-33C1CB2CDAB7}"/>
              </a:ext>
            </a:extLst>
          </p:cNvPr>
          <p:cNvPicPr>
            <a:picLocks noChangeAspect="1"/>
          </p:cNvPicPr>
          <p:nvPr/>
        </p:nvPicPr>
        <p:blipFill>
          <a:blip r:embed="rId2"/>
          <a:stretch>
            <a:fillRect/>
          </a:stretch>
        </p:blipFill>
        <p:spPr>
          <a:xfrm>
            <a:off x="146474" y="997085"/>
            <a:ext cx="2543175" cy="1323975"/>
          </a:xfrm>
          <a:prstGeom prst="rect">
            <a:avLst/>
          </a:prstGeom>
        </p:spPr>
      </p:pic>
      <p:sp>
        <p:nvSpPr>
          <p:cNvPr id="7" name="TextBox 6">
            <a:extLst>
              <a:ext uri="{FF2B5EF4-FFF2-40B4-BE49-F238E27FC236}">
                <a16:creationId xmlns:a16="http://schemas.microsoft.com/office/drawing/2014/main" id="{B4895BEB-9AEE-8AFF-018B-A287DD748864}"/>
              </a:ext>
            </a:extLst>
          </p:cNvPr>
          <p:cNvSpPr txBox="1"/>
          <p:nvPr/>
        </p:nvSpPr>
        <p:spPr>
          <a:xfrm>
            <a:off x="143016" y="2391559"/>
            <a:ext cx="5651624"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Here is an example of how I use functions within my maze game, this function returns a </a:t>
            </a:r>
            <a:r>
              <a:rPr lang="en-GB" sz="1600" dirty="0" err="1"/>
              <a:t>boolean</a:t>
            </a:r>
            <a:r>
              <a:rPr lang="en-GB" sz="1600" dirty="0"/>
              <a:t> value, meaning that rather than running this within the main script, I can just call this function, and have it return a value, this checks the 2D table for the position the player is trying to move into, if that position returns 'W' it will return false as the player cannot move into that position (W = Wall)</a:t>
            </a:r>
          </a:p>
        </p:txBody>
      </p:sp>
      <p:pic>
        <p:nvPicPr>
          <p:cNvPr id="9" name="Picture 8" descr="A computer screen with text on it&#10;&#10;AI-generated content may be incorrect.">
            <a:extLst>
              <a:ext uri="{FF2B5EF4-FFF2-40B4-BE49-F238E27FC236}">
                <a16:creationId xmlns:a16="http://schemas.microsoft.com/office/drawing/2014/main" id="{4B299F9E-6D3D-0D4D-6A6C-6E08D93FDAA8}"/>
              </a:ext>
            </a:extLst>
          </p:cNvPr>
          <p:cNvPicPr>
            <a:picLocks noChangeAspect="1"/>
          </p:cNvPicPr>
          <p:nvPr/>
        </p:nvPicPr>
        <p:blipFill>
          <a:blip r:embed="rId3"/>
          <a:stretch>
            <a:fillRect/>
          </a:stretch>
        </p:blipFill>
        <p:spPr>
          <a:xfrm>
            <a:off x="174775" y="4690254"/>
            <a:ext cx="3762375" cy="1790700"/>
          </a:xfrm>
          <a:prstGeom prst="rect">
            <a:avLst/>
          </a:prstGeom>
        </p:spPr>
      </p:pic>
      <p:sp>
        <p:nvSpPr>
          <p:cNvPr id="10" name="TextBox 9">
            <a:extLst>
              <a:ext uri="{FF2B5EF4-FFF2-40B4-BE49-F238E27FC236}">
                <a16:creationId xmlns:a16="http://schemas.microsoft.com/office/drawing/2014/main" id="{8D4161CA-515D-FAFB-2C1B-5A5CA62F344C}"/>
              </a:ext>
            </a:extLst>
          </p:cNvPr>
          <p:cNvSpPr txBox="1"/>
          <p:nvPr/>
        </p:nvSpPr>
        <p:spPr>
          <a:xfrm>
            <a:off x="4021687" y="4690612"/>
            <a:ext cx="415600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Here Is Another example of how to use functions in C++. This is a void function, void functions </a:t>
            </a:r>
            <a:r>
              <a:rPr lang="en-GB"/>
              <a:t>do not</a:t>
            </a:r>
            <a:r>
              <a:rPr lang="en-GB" dirty="0"/>
              <a:t> return anything, this means you </a:t>
            </a:r>
            <a:r>
              <a:rPr lang="en-GB"/>
              <a:t>do not</a:t>
            </a:r>
            <a:r>
              <a:rPr lang="en-GB" dirty="0"/>
              <a:t> have to return a value back to the place it was called!</a:t>
            </a:r>
          </a:p>
        </p:txBody>
      </p:sp>
    </p:spTree>
    <p:extLst>
      <p:ext uri="{BB962C8B-B14F-4D97-AF65-F5344CB8AC3E}">
        <p14:creationId xmlns:p14="http://schemas.microsoft.com/office/powerpoint/2010/main" val="2719459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5FA7-6A8B-239F-EEC0-9A270DBF7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146D4-1766-18BE-7EB3-D187A598F6D7}"/>
              </a:ext>
            </a:extLst>
          </p:cNvPr>
          <p:cNvSpPr>
            <a:spLocks noGrp="1"/>
          </p:cNvSpPr>
          <p:nvPr>
            <p:ph type="title"/>
          </p:nvPr>
        </p:nvSpPr>
        <p:spPr>
          <a:xfrm>
            <a:off x="4482" y="-2428"/>
            <a:ext cx="10515600" cy="706438"/>
          </a:xfrm>
        </p:spPr>
        <p:txBody>
          <a:bodyPr>
            <a:normAutofit/>
          </a:bodyPr>
          <a:lstStyle/>
          <a:p>
            <a:r>
              <a:rPr lang="en-GB" u="sng"/>
              <a:t>Week 7 – Pointers &amp; References</a:t>
            </a:r>
            <a:endParaRPr lang="en-US" u="sng"/>
          </a:p>
        </p:txBody>
      </p:sp>
      <p:sp>
        <p:nvSpPr>
          <p:cNvPr id="3" name="TextBox 2">
            <a:extLst>
              <a:ext uri="{FF2B5EF4-FFF2-40B4-BE49-F238E27FC236}">
                <a16:creationId xmlns:a16="http://schemas.microsoft.com/office/drawing/2014/main" id="{405131F4-E1BE-F063-CFA6-91280DA5EFD8}"/>
              </a:ext>
            </a:extLst>
          </p:cNvPr>
          <p:cNvSpPr txBox="1"/>
          <p:nvPr/>
        </p:nvSpPr>
        <p:spPr>
          <a:xfrm>
            <a:off x="9475693" y="112573"/>
            <a:ext cx="2716305" cy="72327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u="sng"/>
              <a:t>Pointers</a:t>
            </a:r>
            <a:endParaRPr lang="en-US"/>
          </a:p>
          <a:p>
            <a:r>
              <a:rPr lang="en-GB" sz="1600" dirty="0"/>
              <a:t>Pointers allow you to access specific memory locations. Unlike References they can be null, This could be </a:t>
            </a:r>
            <a:r>
              <a:rPr lang="en-GB" sz="1600" dirty="0" err="1"/>
              <a:t>usefull</a:t>
            </a:r>
            <a:r>
              <a:rPr lang="en-GB" sz="1600" dirty="0"/>
              <a:t> in some situations, but I am still not fully sure on when and how</a:t>
            </a:r>
          </a:p>
          <a:p>
            <a:endParaRPr lang="en-GB" sz="1600" dirty="0"/>
          </a:p>
          <a:p>
            <a:r>
              <a:rPr lang="en-GB" sz="1600" u="sng"/>
              <a:t>References</a:t>
            </a:r>
            <a:endParaRPr lang="en-GB" sz="1600"/>
          </a:p>
          <a:p>
            <a:r>
              <a:rPr lang="en-GB" sz="1600" dirty="0"/>
              <a:t>On the other hand references are incredibly </a:t>
            </a:r>
            <a:r>
              <a:rPr lang="en-GB" sz="1600"/>
              <a:t>useful, when sending </a:t>
            </a:r>
            <a:r>
              <a:rPr lang="en-GB" sz="1600" dirty="0"/>
              <a:t>values to a function you tend to create copies of the values within that function, a reference (called with an &amp; symbol) creates a direct REFERENCE to the original variable (bool, int, etc) allowing for functions to edit values that are within the main script without forcing them to be initialised earlier</a:t>
            </a:r>
          </a:p>
          <a:p>
            <a:endParaRPr lang="en-GB" sz="1600" dirty="0"/>
          </a:p>
          <a:p>
            <a:endParaRPr lang="en-GB" sz="1600" dirty="0"/>
          </a:p>
        </p:txBody>
      </p:sp>
      <p:sp>
        <p:nvSpPr>
          <p:cNvPr id="8" name="TextBox 7">
            <a:extLst>
              <a:ext uri="{FF2B5EF4-FFF2-40B4-BE49-F238E27FC236}">
                <a16:creationId xmlns:a16="http://schemas.microsoft.com/office/drawing/2014/main" id="{FE5C09AE-1547-2F4A-B6EC-7EC7914D6C71}"/>
              </a:ext>
            </a:extLst>
          </p:cNvPr>
          <p:cNvSpPr txBox="1"/>
          <p:nvPr/>
        </p:nvSpPr>
        <p:spPr>
          <a:xfrm>
            <a:off x="23341" y="626006"/>
            <a:ext cx="39265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t>Example of learning!</a:t>
            </a:r>
          </a:p>
        </p:txBody>
      </p:sp>
      <p:pic>
        <p:nvPicPr>
          <p:cNvPr id="4" name="Picture 3" descr="A screen shot of a computer code&#10;&#10;AI-generated content may be incorrect.">
            <a:extLst>
              <a:ext uri="{FF2B5EF4-FFF2-40B4-BE49-F238E27FC236}">
                <a16:creationId xmlns:a16="http://schemas.microsoft.com/office/drawing/2014/main" id="{E5F08051-8A7D-0B27-28CB-439F9D64C931}"/>
              </a:ext>
            </a:extLst>
          </p:cNvPr>
          <p:cNvPicPr>
            <a:picLocks noChangeAspect="1"/>
          </p:cNvPicPr>
          <p:nvPr/>
        </p:nvPicPr>
        <p:blipFill>
          <a:blip r:embed="rId2"/>
          <a:stretch>
            <a:fillRect/>
          </a:stretch>
        </p:blipFill>
        <p:spPr>
          <a:xfrm>
            <a:off x="166437" y="998120"/>
            <a:ext cx="3657600" cy="1733550"/>
          </a:xfrm>
          <a:prstGeom prst="rect">
            <a:avLst/>
          </a:prstGeom>
        </p:spPr>
      </p:pic>
      <p:sp>
        <p:nvSpPr>
          <p:cNvPr id="6" name="TextBox 5">
            <a:extLst>
              <a:ext uri="{FF2B5EF4-FFF2-40B4-BE49-F238E27FC236}">
                <a16:creationId xmlns:a16="http://schemas.microsoft.com/office/drawing/2014/main" id="{12AC5FF3-6617-D3DD-0ABB-16528940FE75}"/>
              </a:ext>
            </a:extLst>
          </p:cNvPr>
          <p:cNvSpPr txBox="1"/>
          <p:nvPr/>
        </p:nvSpPr>
        <p:spPr>
          <a:xfrm>
            <a:off x="170447" y="2807368"/>
            <a:ext cx="364957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You can see how references are used in this piece of code I used in last </a:t>
            </a:r>
            <a:r>
              <a:rPr lang="en-GB"/>
              <a:t>week's</a:t>
            </a:r>
            <a:r>
              <a:rPr lang="en-GB" dirty="0"/>
              <a:t> portfolio, I use references to allow this void function to change the players location values, despite the values </a:t>
            </a:r>
            <a:r>
              <a:rPr lang="en-GB"/>
              <a:t>being initialised</a:t>
            </a:r>
            <a:r>
              <a:rPr lang="en-GB" dirty="0"/>
              <a:t> lower in </a:t>
            </a:r>
            <a:r>
              <a:rPr lang="en-GB"/>
              <a:t>the code!</a:t>
            </a:r>
            <a:endParaRPr lang="en-GB" dirty="0"/>
          </a:p>
        </p:txBody>
      </p:sp>
    </p:spTree>
    <p:extLst>
      <p:ext uri="{BB962C8B-B14F-4D97-AF65-F5344CB8AC3E}">
        <p14:creationId xmlns:p14="http://schemas.microsoft.com/office/powerpoint/2010/main" val="3899005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EA013-974A-8BA4-55DF-AA8B2F753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96D8D-A0CD-CB63-6B2E-C1A5078B4E9C}"/>
              </a:ext>
            </a:extLst>
          </p:cNvPr>
          <p:cNvSpPr>
            <a:spLocks noGrp="1"/>
          </p:cNvSpPr>
          <p:nvPr>
            <p:ph type="title"/>
          </p:nvPr>
        </p:nvSpPr>
        <p:spPr>
          <a:xfrm>
            <a:off x="4482" y="-2428"/>
            <a:ext cx="10515600" cy="706438"/>
          </a:xfrm>
        </p:spPr>
        <p:txBody>
          <a:bodyPr>
            <a:normAutofit/>
          </a:bodyPr>
          <a:lstStyle/>
          <a:p>
            <a:r>
              <a:rPr lang="en-GB" u="sng"/>
              <a:t>Week 10 – Classes (P1)</a:t>
            </a:r>
            <a:endParaRPr lang="en-US" u="sng"/>
          </a:p>
        </p:txBody>
      </p:sp>
      <p:sp>
        <p:nvSpPr>
          <p:cNvPr id="8" name="TextBox 7">
            <a:extLst>
              <a:ext uri="{FF2B5EF4-FFF2-40B4-BE49-F238E27FC236}">
                <a16:creationId xmlns:a16="http://schemas.microsoft.com/office/drawing/2014/main" id="{C5702D7D-384A-2860-B447-7ECEF2CF659E}"/>
              </a:ext>
            </a:extLst>
          </p:cNvPr>
          <p:cNvSpPr txBox="1"/>
          <p:nvPr/>
        </p:nvSpPr>
        <p:spPr>
          <a:xfrm>
            <a:off x="109606" y="841666"/>
            <a:ext cx="77796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Classes are quite a big topic within C, they allow for you to create your own types within C++, You can define data requirements, Aswell as add functions to them. I am not too sure how to describe classes in words so I am going to use screenshots to support my description</a:t>
            </a:r>
          </a:p>
        </p:txBody>
      </p:sp>
      <p:pic>
        <p:nvPicPr>
          <p:cNvPr id="5" name="Picture 4" descr="A computer screen shot of a program&#10;&#10;AI-generated content may be incorrect.">
            <a:extLst>
              <a:ext uri="{FF2B5EF4-FFF2-40B4-BE49-F238E27FC236}">
                <a16:creationId xmlns:a16="http://schemas.microsoft.com/office/drawing/2014/main" id="{45D37A44-20B0-8DE5-8969-5CCE4184C76B}"/>
              </a:ext>
            </a:extLst>
          </p:cNvPr>
          <p:cNvPicPr>
            <a:picLocks noChangeAspect="1"/>
          </p:cNvPicPr>
          <p:nvPr/>
        </p:nvPicPr>
        <p:blipFill>
          <a:blip r:embed="rId2"/>
          <a:stretch>
            <a:fillRect/>
          </a:stretch>
        </p:blipFill>
        <p:spPr>
          <a:xfrm>
            <a:off x="191503" y="2390799"/>
            <a:ext cx="5753100" cy="3267075"/>
          </a:xfrm>
          <a:prstGeom prst="rect">
            <a:avLst/>
          </a:prstGeom>
        </p:spPr>
      </p:pic>
      <p:sp>
        <p:nvSpPr>
          <p:cNvPr id="7" name="TextBox 6">
            <a:extLst>
              <a:ext uri="{FF2B5EF4-FFF2-40B4-BE49-F238E27FC236}">
                <a16:creationId xmlns:a16="http://schemas.microsoft.com/office/drawing/2014/main" id="{86C4A80F-2353-363E-7AF4-F8A8E4CF1AA5}"/>
              </a:ext>
            </a:extLst>
          </p:cNvPr>
          <p:cNvSpPr txBox="1"/>
          <p:nvPr/>
        </p:nvSpPr>
        <p:spPr>
          <a:xfrm>
            <a:off x="5944792" y="2393037"/>
            <a:ext cx="417419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Here is how I define my variables within my class in the (Advanced Circles) code, as you can see all the values that previously would have been scattered around the script are now neatly within the class. I also use mutable here (something I do not think we were taught) that I believe allows for the variables to be </a:t>
            </a:r>
            <a:r>
              <a:rPr lang="en-GB"/>
              <a:t>there but not forced to be changed every time the class is called!</a:t>
            </a:r>
          </a:p>
        </p:txBody>
      </p:sp>
    </p:spTree>
    <p:extLst>
      <p:ext uri="{BB962C8B-B14F-4D97-AF65-F5344CB8AC3E}">
        <p14:creationId xmlns:p14="http://schemas.microsoft.com/office/powerpoint/2010/main" val="2296454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C8DBC-A226-088E-E28D-C5E12EBE4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2DEA8-E33D-1579-7DA9-3E46B23E29D3}"/>
              </a:ext>
            </a:extLst>
          </p:cNvPr>
          <p:cNvSpPr>
            <a:spLocks noGrp="1"/>
          </p:cNvSpPr>
          <p:nvPr>
            <p:ph type="title"/>
          </p:nvPr>
        </p:nvSpPr>
        <p:spPr>
          <a:xfrm>
            <a:off x="4482" y="-2428"/>
            <a:ext cx="10515600" cy="706438"/>
          </a:xfrm>
        </p:spPr>
        <p:txBody>
          <a:bodyPr>
            <a:normAutofit/>
          </a:bodyPr>
          <a:lstStyle/>
          <a:p>
            <a:r>
              <a:rPr lang="en-GB" u="sng"/>
              <a:t>Week 10 – Classes (P2)</a:t>
            </a:r>
            <a:endParaRPr lang="en-US" u="sng"/>
          </a:p>
        </p:txBody>
      </p:sp>
      <p:pic>
        <p:nvPicPr>
          <p:cNvPr id="3" name="Picture 2" descr="A screen shot of a computer&#10;&#10;AI-generated content may be incorrect.">
            <a:extLst>
              <a:ext uri="{FF2B5EF4-FFF2-40B4-BE49-F238E27FC236}">
                <a16:creationId xmlns:a16="http://schemas.microsoft.com/office/drawing/2014/main" id="{4BBA58EC-DA6D-8A45-43A2-4872757B491D}"/>
              </a:ext>
            </a:extLst>
          </p:cNvPr>
          <p:cNvPicPr>
            <a:picLocks noChangeAspect="1"/>
          </p:cNvPicPr>
          <p:nvPr/>
        </p:nvPicPr>
        <p:blipFill>
          <a:blip r:embed="rId2"/>
          <a:stretch>
            <a:fillRect/>
          </a:stretch>
        </p:blipFill>
        <p:spPr>
          <a:xfrm>
            <a:off x="3302418" y="703096"/>
            <a:ext cx="8715375" cy="2905125"/>
          </a:xfrm>
          <a:prstGeom prst="rect">
            <a:avLst/>
          </a:prstGeom>
        </p:spPr>
      </p:pic>
      <p:sp>
        <p:nvSpPr>
          <p:cNvPr id="4" name="TextBox 3">
            <a:extLst>
              <a:ext uri="{FF2B5EF4-FFF2-40B4-BE49-F238E27FC236}">
                <a16:creationId xmlns:a16="http://schemas.microsoft.com/office/drawing/2014/main" id="{033E008A-B878-E3D0-F138-46BF631A7AF1}"/>
              </a:ext>
            </a:extLst>
          </p:cNvPr>
          <p:cNvSpPr txBox="1"/>
          <p:nvPr/>
        </p:nvSpPr>
        <p:spPr>
          <a:xfrm>
            <a:off x="92675" y="782595"/>
            <a:ext cx="308918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is the function that is ran whenever the class is called, it gets all needed values, sets X and Y to random positions within the 800 x 600 screen size, calls the </a:t>
            </a:r>
            <a:r>
              <a:rPr lang="en-GB" dirty="0" err="1"/>
              <a:t>SetDirection</a:t>
            </a:r>
            <a:r>
              <a:rPr lang="en-GB" dirty="0"/>
              <a:t> Function from the circles.cpp file (and does this with all the other this-&gt; statements).</a:t>
            </a:r>
          </a:p>
        </p:txBody>
      </p:sp>
      <p:pic>
        <p:nvPicPr>
          <p:cNvPr id="6" name="Picture 5" descr="A computer code on a black background&#10;&#10;AI-generated content may be incorrect.">
            <a:extLst>
              <a:ext uri="{FF2B5EF4-FFF2-40B4-BE49-F238E27FC236}">
                <a16:creationId xmlns:a16="http://schemas.microsoft.com/office/drawing/2014/main" id="{77D31F8A-7661-D72D-7528-47CE12631263}"/>
              </a:ext>
            </a:extLst>
          </p:cNvPr>
          <p:cNvPicPr>
            <a:picLocks noChangeAspect="1"/>
          </p:cNvPicPr>
          <p:nvPr/>
        </p:nvPicPr>
        <p:blipFill>
          <a:blip r:embed="rId3"/>
          <a:stretch>
            <a:fillRect/>
          </a:stretch>
        </p:blipFill>
        <p:spPr>
          <a:xfrm>
            <a:off x="95893" y="4104503"/>
            <a:ext cx="6048375" cy="914400"/>
          </a:xfrm>
          <a:prstGeom prst="rect">
            <a:avLst/>
          </a:prstGeom>
        </p:spPr>
      </p:pic>
      <p:sp>
        <p:nvSpPr>
          <p:cNvPr id="9" name="TextBox 8">
            <a:extLst>
              <a:ext uri="{FF2B5EF4-FFF2-40B4-BE49-F238E27FC236}">
                <a16:creationId xmlns:a16="http://schemas.microsoft.com/office/drawing/2014/main" id="{491505F3-96CB-0B7F-19A5-CF08B674BEBF}"/>
              </a:ext>
            </a:extLst>
          </p:cNvPr>
          <p:cNvSpPr txBox="1"/>
          <p:nvPr/>
        </p:nvSpPr>
        <p:spPr>
          <a:xfrm>
            <a:off x="133864" y="5138350"/>
            <a:ext cx="83511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As an example of what is going on in the circles.cpp file, these are the functions being called within the header file, they are run when either the </a:t>
            </a:r>
            <a:r>
              <a:rPr lang="en-GB"/>
              <a:t>class or the this-&gt; statement is used!</a:t>
            </a:r>
          </a:p>
        </p:txBody>
      </p:sp>
    </p:spTree>
    <p:extLst>
      <p:ext uri="{BB962C8B-B14F-4D97-AF65-F5344CB8AC3E}">
        <p14:creationId xmlns:p14="http://schemas.microsoft.com/office/powerpoint/2010/main" val="1426843910"/>
      </p:ext>
    </p:extLst>
  </p:cSld>
  <p:clrMapOvr>
    <a:masterClrMapping/>
  </p:clrMapOvr>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DylanVTI</vt:lpstr>
      <vt:lpstr>Game Programming Fundamentals</vt:lpstr>
      <vt:lpstr>Week 1 – Types and Variables</vt:lpstr>
      <vt:lpstr>Week 2 – Boolean Logic &amp; Comparisons</vt:lpstr>
      <vt:lpstr>Week 3 – Loops &amp; Arrays</vt:lpstr>
      <vt:lpstr>Week 4 – Loops &amp; Arrays</vt:lpstr>
      <vt:lpstr>Week 6 – Functions &amp; Maze Game</vt:lpstr>
      <vt:lpstr>Week 7 – Pointers &amp; References</vt:lpstr>
      <vt:lpstr>Week 10 – Classes (P1)</vt:lpstr>
      <vt:lpstr>Week 10 – Classes (P2)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528</cp:revision>
  <dcterms:created xsi:type="dcterms:W3CDTF">2025-09-29T13:21:12Z</dcterms:created>
  <dcterms:modified xsi:type="dcterms:W3CDTF">2026-03-27T15:54:50Z</dcterms:modified>
</cp:coreProperties>
</file>